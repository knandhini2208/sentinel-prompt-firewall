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Gotham" panose="020B0604020202020204" charset="0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Bold" panose="020B0604020202020204" charset="0"/>
      <p:regular r:id="rId16"/>
    </p:embeddedFont>
    <p:embeddedFont>
      <p:font typeface="Pattanakarn Semi-Bold" panose="020B0604020202020204" charset="-34"/>
      <p:regular r:id="rId17"/>
    </p:embeddedFont>
    <p:embeddedFont>
      <p:font typeface="Poppins" panose="000005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833" r="-15276" b="-7729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-4046720" y="40075"/>
            <a:ext cx="22334720" cy="10246925"/>
            <a:chOff x="0" y="0"/>
            <a:chExt cx="5882395" cy="26987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82395" cy="2698779"/>
            </a:xfrm>
            <a:custGeom>
              <a:avLst/>
              <a:gdLst/>
              <a:ahLst/>
              <a:cxnLst/>
              <a:rect l="l" t="t" r="r" b="b"/>
              <a:pathLst>
                <a:path w="5882395" h="2698779">
                  <a:moveTo>
                    <a:pt x="0" y="0"/>
                  </a:moveTo>
                  <a:lnTo>
                    <a:pt x="5882395" y="0"/>
                  </a:lnTo>
                  <a:lnTo>
                    <a:pt x="5882395" y="2698779"/>
                  </a:lnTo>
                  <a:lnTo>
                    <a:pt x="0" y="2698779"/>
                  </a:lnTo>
                  <a:close/>
                </a:path>
              </a:pathLst>
            </a:custGeom>
            <a:gradFill rotWithShape="1">
              <a:gsLst>
                <a:gs pos="0">
                  <a:srgbClr val="02051F">
                    <a:alpha val="100000"/>
                  </a:srgbClr>
                </a:gs>
                <a:gs pos="50000">
                  <a:srgbClr val="02051E">
                    <a:alpha val="96000"/>
                  </a:srgbClr>
                </a:gs>
                <a:gs pos="100000">
                  <a:srgbClr val="05699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882395" cy="2679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>
            <a:off x="12173701" y="7072178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7237266" y="0"/>
                </a:moveTo>
                <a:lnTo>
                  <a:pt x="0" y="0"/>
                </a:lnTo>
                <a:lnTo>
                  <a:pt x="0" y="5276624"/>
                </a:lnTo>
                <a:lnTo>
                  <a:pt x="7237266" y="5276624"/>
                </a:lnTo>
                <a:lnTo>
                  <a:pt x="7237266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13606" y="-555281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3858632" y="-2598237"/>
            <a:ext cx="7237265" cy="5276624"/>
          </a:xfrm>
          <a:custGeom>
            <a:avLst/>
            <a:gdLst/>
            <a:ahLst/>
            <a:cxnLst/>
            <a:rect l="l" t="t" r="r" b="b"/>
            <a:pathLst>
              <a:path w="7237265" h="5276624">
                <a:moveTo>
                  <a:pt x="0" y="0"/>
                </a:moveTo>
                <a:lnTo>
                  <a:pt x="7237265" y="0"/>
                </a:lnTo>
                <a:lnTo>
                  <a:pt x="7237265" y="5276624"/>
                </a:lnTo>
                <a:lnTo>
                  <a:pt x="0" y="5276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99555" y="812119"/>
            <a:ext cx="340308" cy="666082"/>
          </a:xfrm>
          <a:custGeom>
            <a:avLst/>
            <a:gdLst/>
            <a:ahLst/>
            <a:cxnLst/>
            <a:rect l="l" t="t" r="r" b="b"/>
            <a:pathLst>
              <a:path w="340308" h="666082">
                <a:moveTo>
                  <a:pt x="0" y="0"/>
                </a:moveTo>
                <a:lnTo>
                  <a:pt x="340307" y="0"/>
                </a:lnTo>
                <a:lnTo>
                  <a:pt x="340307" y="666082"/>
                </a:lnTo>
                <a:lnTo>
                  <a:pt x="0" y="666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033181" y="8382762"/>
            <a:ext cx="6336528" cy="875538"/>
            <a:chOff x="0" y="0"/>
            <a:chExt cx="1668951" cy="230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68951" cy="230505"/>
            </a:xfrm>
            <a:custGeom>
              <a:avLst/>
              <a:gdLst/>
              <a:ahLst/>
              <a:cxnLst/>
              <a:rect l="l" t="t" r="r" b="b"/>
              <a:pathLst>
                <a:path w="1668951" h="230505">
                  <a:moveTo>
                    <a:pt x="1668951" y="115252"/>
                  </a:moveTo>
                  <a:lnTo>
                    <a:pt x="1668951" y="115252"/>
                  </a:lnTo>
                  <a:cubicBezTo>
                    <a:pt x="1668951" y="178905"/>
                    <a:pt x="1617351" y="230505"/>
                    <a:pt x="1553699" y="230505"/>
                  </a:cubicBezTo>
                  <a:lnTo>
                    <a:pt x="115252" y="230505"/>
                  </a:lnTo>
                  <a:cubicBezTo>
                    <a:pt x="51600" y="230505"/>
                    <a:pt x="0" y="178905"/>
                    <a:pt x="0" y="115252"/>
                  </a:cubicBezTo>
                  <a:lnTo>
                    <a:pt x="0" y="115252"/>
                  </a:lnTo>
                  <a:cubicBezTo>
                    <a:pt x="0" y="51600"/>
                    <a:pt x="51600" y="0"/>
                    <a:pt x="115252" y="0"/>
                  </a:cubicBezTo>
                  <a:lnTo>
                    <a:pt x="1553699" y="0"/>
                  </a:lnTo>
                  <a:cubicBezTo>
                    <a:pt x="1584266" y="0"/>
                    <a:pt x="1613580" y="12143"/>
                    <a:pt x="1635195" y="33757"/>
                  </a:cubicBezTo>
                  <a:cubicBezTo>
                    <a:pt x="1656809" y="55371"/>
                    <a:pt x="1668951" y="84686"/>
                    <a:pt x="1668951" y="115252"/>
                  </a:cubicBezTo>
                  <a:close/>
                </a:path>
              </a:pathLst>
            </a:custGeom>
            <a:gradFill rotWithShape="1">
              <a:gsLst>
                <a:gs pos="0">
                  <a:srgbClr val="4ADEDD">
                    <a:alpha val="100000"/>
                  </a:srgbClr>
                </a:gs>
                <a:gs pos="100000">
                  <a:srgbClr val="0064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668951" cy="211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510013" y="9413730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40"/>
                </a:lnTo>
                <a:lnTo>
                  <a:pt x="0" y="1746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191077" y="-790329"/>
            <a:ext cx="1499841" cy="1746540"/>
          </a:xfrm>
          <a:custGeom>
            <a:avLst/>
            <a:gdLst/>
            <a:ahLst/>
            <a:cxnLst/>
            <a:rect l="l" t="t" r="r" b="b"/>
            <a:pathLst>
              <a:path w="1499841" h="1746540">
                <a:moveTo>
                  <a:pt x="0" y="0"/>
                </a:moveTo>
                <a:lnTo>
                  <a:pt x="1499841" y="0"/>
                </a:lnTo>
                <a:lnTo>
                  <a:pt x="1499841" y="1746539"/>
                </a:lnTo>
                <a:lnTo>
                  <a:pt x="0" y="1746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611920" y="561462"/>
            <a:ext cx="3927943" cy="1167395"/>
          </a:xfrm>
          <a:custGeom>
            <a:avLst/>
            <a:gdLst/>
            <a:ahLst/>
            <a:cxnLst/>
            <a:rect l="l" t="t" r="r" b="b"/>
            <a:pathLst>
              <a:path w="3927943" h="1167395">
                <a:moveTo>
                  <a:pt x="0" y="0"/>
                </a:moveTo>
                <a:lnTo>
                  <a:pt x="3927942" y="0"/>
                </a:lnTo>
                <a:lnTo>
                  <a:pt x="3927942" y="1167396"/>
                </a:lnTo>
                <a:lnTo>
                  <a:pt x="0" y="11673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852718" y="3442195"/>
            <a:ext cx="13516991" cy="146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997"/>
              </a:lnSpc>
            </a:pPr>
            <a:r>
              <a:rPr lang="en-US" sz="10997" b="1" spc="164">
                <a:solidFill>
                  <a:srgbClr val="4ADEDD"/>
                </a:solidFill>
                <a:latin typeface="Pattanakarn Semi-Bold"/>
                <a:ea typeface="Pattanakarn Semi-Bold"/>
                <a:cs typeface="Pattanakarn Semi-Bold"/>
                <a:sym typeface="Pattanakarn Semi-Bold"/>
              </a:rPr>
              <a:t>SENTINEL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87673" y="5035987"/>
            <a:ext cx="9782036" cy="181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41"/>
              </a:lnSpc>
            </a:pPr>
            <a:r>
              <a:rPr lang="en-US" sz="7041" b="1" spc="105">
                <a:solidFill>
                  <a:srgbClr val="FFFFFF"/>
                </a:solidFill>
                <a:latin typeface="Pattanakarn Semi-Bold"/>
                <a:ea typeface="Pattanakarn Semi-Bold"/>
                <a:cs typeface="Pattanakarn Semi-Bold"/>
                <a:sym typeface="Pattanakarn Semi-Bold"/>
              </a:rPr>
              <a:t>Real-Time Prompt Injection Firewall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9907" y="7119803"/>
            <a:ext cx="15349802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00"/>
              </a:lnSpc>
            </a:pPr>
            <a:r>
              <a:rPr lang="en-US" sz="2500" spc="3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AI Trust, Safety &amp; Governance | Exasol AI + Data Challenge 2026s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33181" y="8633808"/>
            <a:ext cx="6336528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 spc="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 : 404ever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36751" cy="8627843"/>
            <a:chOff x="0" y="0"/>
            <a:chExt cx="812800" cy="930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30469"/>
            </a:xfrm>
            <a:custGeom>
              <a:avLst/>
              <a:gdLst/>
              <a:ahLst/>
              <a:cxnLst/>
              <a:rect l="l" t="t" r="r" b="b"/>
              <a:pathLst>
                <a:path w="812800" h="930469">
                  <a:moveTo>
                    <a:pt x="0" y="0"/>
                  </a:moveTo>
                  <a:lnTo>
                    <a:pt x="812800" y="0"/>
                  </a:lnTo>
                  <a:lnTo>
                    <a:pt x="812800" y="930469"/>
                  </a:lnTo>
                  <a:lnTo>
                    <a:pt x="0" y="930469"/>
                  </a:lnTo>
                  <a:close/>
                </a:path>
              </a:pathLst>
            </a:custGeom>
            <a:blipFill>
              <a:blip r:embed="rId2"/>
              <a:stretch>
                <a:fillRect l="-51757" r="-517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21139" y="8627843"/>
            <a:ext cx="7277950" cy="1271277"/>
            <a:chOff x="0" y="0"/>
            <a:chExt cx="268736" cy="469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736" cy="46941"/>
            </a:xfrm>
            <a:custGeom>
              <a:avLst/>
              <a:gdLst/>
              <a:ahLst/>
              <a:cxnLst/>
              <a:rect l="l" t="t" r="r" b="b"/>
              <a:pathLst>
                <a:path w="268736" h="46941">
                  <a:moveTo>
                    <a:pt x="0" y="0"/>
                  </a:moveTo>
                  <a:lnTo>
                    <a:pt x="268736" y="0"/>
                  </a:lnTo>
                  <a:lnTo>
                    <a:pt x="268736" y="46941"/>
                  </a:lnTo>
                  <a:lnTo>
                    <a:pt x="0" y="46941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68736" cy="85041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8570" y="9485217"/>
            <a:ext cx="6218093" cy="185913"/>
            <a:chOff x="0" y="0"/>
            <a:chExt cx="229601" cy="6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601" cy="6865"/>
            </a:xfrm>
            <a:custGeom>
              <a:avLst/>
              <a:gdLst/>
              <a:ahLst/>
              <a:cxnLst/>
              <a:rect l="l" t="t" r="r" b="b"/>
              <a:pathLst>
                <a:path w="229601" h="6865">
                  <a:moveTo>
                    <a:pt x="0" y="0"/>
                  </a:moveTo>
                  <a:lnTo>
                    <a:pt x="229601" y="0"/>
                  </a:lnTo>
                  <a:lnTo>
                    <a:pt x="229601" y="6865"/>
                  </a:lnTo>
                  <a:lnTo>
                    <a:pt x="0" y="6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9601" cy="44965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8570" y="9485161"/>
            <a:ext cx="5437852" cy="185913"/>
            <a:chOff x="0" y="0"/>
            <a:chExt cx="200791" cy="68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791" cy="6865"/>
            </a:xfrm>
            <a:custGeom>
              <a:avLst/>
              <a:gdLst/>
              <a:ahLst/>
              <a:cxnLst/>
              <a:rect l="l" t="t" r="r" b="b"/>
              <a:pathLst>
                <a:path w="200791" h="6865">
                  <a:moveTo>
                    <a:pt x="0" y="0"/>
                  </a:moveTo>
                  <a:lnTo>
                    <a:pt x="200791" y="0"/>
                  </a:lnTo>
                  <a:lnTo>
                    <a:pt x="200791" y="6865"/>
                  </a:lnTo>
                  <a:lnTo>
                    <a:pt x="0" y="6865"/>
                  </a:lnTo>
                  <a:close/>
                </a:path>
              </a:pathLst>
            </a:custGeom>
            <a:solidFill>
              <a:srgbClr val="02060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0791" cy="44965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88570" y="8961275"/>
            <a:ext cx="4298823" cy="24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Evolution of Attack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87393" y="9010639"/>
            <a:ext cx="1919269" cy="24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90%</a:t>
            </a:r>
          </a:p>
        </p:txBody>
      </p:sp>
      <p:sp>
        <p:nvSpPr>
          <p:cNvPr id="15" name="Freeform 15"/>
          <p:cNvSpPr/>
          <p:nvPr/>
        </p:nvSpPr>
        <p:spPr>
          <a:xfrm rot="-5400362">
            <a:off x="11267469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46839" y="651039"/>
            <a:ext cx="8893917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SYSTEMS ARE BEING TRICKED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03567" y="2667164"/>
            <a:ext cx="7979594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NOBODY'S WATCHING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79329" y="4756280"/>
            <a:ext cx="8879971" cy="18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Prompt injection is ranked the #1 risk on OWASP's Top 10 for LLM Applications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 incidents: a car dealership chatbot manipulated into agreeing to sell a vehicle for $1; AI browser agents hijacked by hidden instructions on webpages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9329" y="6964006"/>
            <a:ext cx="8093791" cy="1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AI agents get access to tools, data, and real actions, the attack surface grows fast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 teams have zero visibility into whether their AI is even being attacked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6262550" cy="6262550"/>
          </a:xfrm>
          <a:custGeom>
            <a:avLst/>
            <a:gdLst/>
            <a:ahLst/>
            <a:cxnLst/>
            <a:rect l="l" t="t" r="r" b="b"/>
            <a:pathLst>
              <a:path w="6262550" h="6262550">
                <a:moveTo>
                  <a:pt x="0" y="0"/>
                </a:moveTo>
                <a:lnTo>
                  <a:pt x="6262550" y="0"/>
                </a:lnTo>
                <a:lnTo>
                  <a:pt x="6262550" y="6262550"/>
                </a:lnTo>
                <a:lnTo>
                  <a:pt x="0" y="6262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124077" y="5574650"/>
            <a:ext cx="3944468" cy="3387216"/>
            <a:chOff x="0" y="0"/>
            <a:chExt cx="145609" cy="12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609" cy="125039"/>
            </a:xfrm>
            <a:custGeom>
              <a:avLst/>
              <a:gdLst/>
              <a:ahLst/>
              <a:cxnLst/>
              <a:rect l="l" t="t" r="r" b="b"/>
              <a:pathLst>
                <a:path w="145609" h="12503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574650"/>
            <a:ext cx="3944468" cy="3387216"/>
            <a:chOff x="0" y="0"/>
            <a:chExt cx="145609" cy="125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609" cy="125039"/>
            </a:xfrm>
            <a:custGeom>
              <a:avLst/>
              <a:gdLst/>
              <a:ahLst/>
              <a:cxnLst/>
              <a:rect l="l" t="t" r="r" b="b"/>
              <a:pathLst>
                <a:path w="145609" h="12503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9455" y="5574650"/>
            <a:ext cx="3944468" cy="3387216"/>
            <a:chOff x="0" y="0"/>
            <a:chExt cx="145609" cy="1250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609" cy="125039"/>
            </a:xfrm>
            <a:custGeom>
              <a:avLst/>
              <a:gdLst/>
              <a:ahLst/>
              <a:cxnLst/>
              <a:rect l="l" t="t" r="r" b="b"/>
              <a:pathLst>
                <a:path w="145609" h="12503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14832" y="5574650"/>
            <a:ext cx="3944468" cy="3387216"/>
            <a:chOff x="0" y="0"/>
            <a:chExt cx="145609" cy="1250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5609" cy="125039"/>
            </a:xfrm>
            <a:custGeom>
              <a:avLst/>
              <a:gdLst/>
              <a:ahLst/>
              <a:cxnLst/>
              <a:rect l="l" t="t" r="r" b="b"/>
              <a:pathLst>
                <a:path w="145609" h="12503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874811" y="1458484"/>
            <a:ext cx="1053837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46421" y="2439426"/>
            <a:ext cx="12795157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WEBSITE 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8595" y="5903063"/>
            <a:ext cx="3287455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Growing Need for AI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42783" y="6916034"/>
            <a:ext cx="3697811" cy="150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Regulations increasingly demand audit trails and risk controls. Security teams need visibility into AI traffic.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71324" y="5903063"/>
            <a:ext cx="3449975" cy="87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AI stack needs a trust and governance layer.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72246" y="7106534"/>
            <a:ext cx="3848131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company using LLM chatbots or agents faces these risks.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7206" y="5903063"/>
            <a:ext cx="3287455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Trust &amp; Governance is the Missing Layer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1206" y="7211108"/>
            <a:ext cx="3799457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AI stack needs a trust and governance layer.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3973" y="5903063"/>
            <a:ext cx="3269758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Simple Defense Layer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82998" y="6916034"/>
            <a:ext cx="3669808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 teams still lack a simple, drop-in defense layer for AI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52943" y="4111238"/>
            <a:ext cx="6906357" cy="2065764"/>
            <a:chOff x="0" y="0"/>
            <a:chExt cx="254947" cy="762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947" cy="76257"/>
            </a:xfrm>
            <a:custGeom>
              <a:avLst/>
              <a:gdLst/>
              <a:ahLst/>
              <a:cxnLst/>
              <a:rect l="l" t="t" r="r" b="b"/>
              <a:pathLst>
                <a:path w="254947" h="76257">
                  <a:moveTo>
                    <a:pt x="0" y="0"/>
                  </a:moveTo>
                  <a:lnTo>
                    <a:pt x="254947" y="0"/>
                  </a:lnTo>
                  <a:lnTo>
                    <a:pt x="254947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4947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52943" y="6446972"/>
            <a:ext cx="6906357" cy="2065764"/>
            <a:chOff x="0" y="0"/>
            <a:chExt cx="254947" cy="7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947" cy="76257"/>
            </a:xfrm>
            <a:custGeom>
              <a:avLst/>
              <a:gdLst/>
              <a:ahLst/>
              <a:cxnLst/>
              <a:rect l="l" t="t" r="r" b="b"/>
              <a:pathLst>
                <a:path w="254947" h="76257">
                  <a:moveTo>
                    <a:pt x="0" y="0"/>
                  </a:moveTo>
                  <a:lnTo>
                    <a:pt x="254947" y="0"/>
                  </a:lnTo>
                  <a:lnTo>
                    <a:pt x="254947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947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52943" y="1774264"/>
            <a:ext cx="6906357" cy="2065764"/>
            <a:chOff x="0" y="0"/>
            <a:chExt cx="254947" cy="762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947" cy="76257"/>
            </a:xfrm>
            <a:custGeom>
              <a:avLst/>
              <a:gdLst/>
              <a:ahLst/>
              <a:cxnLst/>
              <a:rect l="l" t="t" r="r" b="b"/>
              <a:pathLst>
                <a:path w="254947" h="76257">
                  <a:moveTo>
                    <a:pt x="0" y="0"/>
                  </a:moveTo>
                  <a:lnTo>
                    <a:pt x="254947" y="0"/>
                  </a:lnTo>
                  <a:lnTo>
                    <a:pt x="254947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947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2943" y="4111238"/>
            <a:ext cx="1766486" cy="2065764"/>
            <a:chOff x="0" y="0"/>
            <a:chExt cx="65210" cy="762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210" cy="76257"/>
            </a:xfrm>
            <a:custGeom>
              <a:avLst/>
              <a:gdLst/>
              <a:ahLst/>
              <a:cxnLst/>
              <a:rect l="l" t="t" r="r" b="b"/>
              <a:pathLst>
                <a:path w="65210" h="76257">
                  <a:moveTo>
                    <a:pt x="0" y="0"/>
                  </a:moveTo>
                  <a:lnTo>
                    <a:pt x="65210" y="0"/>
                  </a:lnTo>
                  <a:lnTo>
                    <a:pt x="65210" y="76257"/>
                  </a:lnTo>
                  <a:lnTo>
                    <a:pt x="0" y="7625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5210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2673426" y="87939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3967748" y="5643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5" y="0"/>
                </a:lnTo>
                <a:lnTo>
                  <a:pt x="6385195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4552085"/>
            <a:ext cx="8352693" cy="18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Sits between the user and any LLM — a transparent proxy layer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Scores every prompt in real time using two detection layers: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 regex/keyword heuristics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Embedding similarity against a known attack fingerprint database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845593" y="2419394"/>
            <a:ext cx="781185" cy="775504"/>
          </a:xfrm>
          <a:custGeom>
            <a:avLst/>
            <a:gdLst/>
            <a:ahLst/>
            <a:cxnLst/>
            <a:rect l="l" t="t" r="r" b="b"/>
            <a:pathLst>
              <a:path w="781185" h="775504">
                <a:moveTo>
                  <a:pt x="0" y="0"/>
                </a:moveTo>
                <a:lnTo>
                  <a:pt x="781186" y="0"/>
                </a:lnTo>
                <a:lnTo>
                  <a:pt x="781186" y="775505"/>
                </a:lnTo>
                <a:lnTo>
                  <a:pt x="0" y="775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848434" y="4756368"/>
            <a:ext cx="775504" cy="775504"/>
          </a:xfrm>
          <a:custGeom>
            <a:avLst/>
            <a:gdLst/>
            <a:ahLst/>
            <a:cxnLst/>
            <a:rect l="l" t="t" r="r" b="b"/>
            <a:pathLst>
              <a:path w="775504" h="775504">
                <a:moveTo>
                  <a:pt x="0" y="0"/>
                </a:moveTo>
                <a:lnTo>
                  <a:pt x="775504" y="0"/>
                </a:lnTo>
                <a:lnTo>
                  <a:pt x="775504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733206" y="7092101"/>
            <a:ext cx="1005961" cy="775504"/>
          </a:xfrm>
          <a:custGeom>
            <a:avLst/>
            <a:gdLst/>
            <a:ahLst/>
            <a:cxnLst/>
            <a:rect l="l" t="t" r="r" b="b"/>
            <a:pathLst>
              <a:path w="1005961" h="775504">
                <a:moveTo>
                  <a:pt x="0" y="0"/>
                </a:moveTo>
                <a:lnTo>
                  <a:pt x="1005960" y="0"/>
                </a:lnTo>
                <a:lnTo>
                  <a:pt x="1005960" y="775505"/>
                </a:lnTo>
                <a:lnTo>
                  <a:pt x="0" y="775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2380075"/>
            <a:ext cx="932424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AMAZING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381093"/>
            <a:ext cx="7736606" cy="8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SENTINEL: A FIREWALL + AUDIT TRAIL FOR AI CONVERSATIONS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6833962"/>
            <a:ext cx="8466993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Decision: ALLOW / FLAG / BLOCK — before the prompt ever reaches the model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decision is logged for full forensic replay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78194" y="4451558"/>
            <a:ext cx="5299730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Intelligent Threat Detection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78194" y="4889718"/>
            <a:ext cx="5299730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Combines pattern analysis and AI-powered similarity checks to identify suspicious prompts.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78194" y="2253854"/>
            <a:ext cx="5299730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AI Traffic Protection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78194" y="2692014"/>
            <a:ext cx="4473289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Monitors every interaction between users and AI models.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78194" y="6787291"/>
            <a:ext cx="4771545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Security Decisions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78194" y="7511201"/>
            <a:ext cx="4227834" cy="264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Allows, flags, or blocks risky prompts.</a:t>
            </a: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08108" y="0"/>
            <a:ext cx="7879892" cy="10287000"/>
            <a:chOff x="0" y="0"/>
            <a:chExt cx="122080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801" cy="1593725"/>
            </a:xfrm>
            <a:custGeom>
              <a:avLst/>
              <a:gdLst/>
              <a:ahLst/>
              <a:cxnLst/>
              <a:rect l="l" t="t" r="r" b="b"/>
              <a:pathLst>
                <a:path w="1220801" h="1593725">
                  <a:moveTo>
                    <a:pt x="0" y="0"/>
                  </a:moveTo>
                  <a:lnTo>
                    <a:pt x="1220801" y="0"/>
                  </a:lnTo>
                  <a:lnTo>
                    <a:pt x="12208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59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6608793"/>
            <a:ext cx="780503" cy="78050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-3192597" y="9179437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19636" y="6799729"/>
            <a:ext cx="398631" cy="398631"/>
          </a:xfrm>
          <a:custGeom>
            <a:avLst/>
            <a:gdLst/>
            <a:ahLst/>
            <a:cxnLst/>
            <a:rect l="l" t="t" r="r" b="b"/>
            <a:pathLst>
              <a:path w="398631" h="398631">
                <a:moveTo>
                  <a:pt x="0" y="0"/>
                </a:moveTo>
                <a:lnTo>
                  <a:pt x="398631" y="0"/>
                </a:lnTo>
                <a:lnTo>
                  <a:pt x="398631" y="398630"/>
                </a:lnTo>
                <a:lnTo>
                  <a:pt x="0" y="398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7995" y="365118"/>
            <a:ext cx="11483122" cy="739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SENTINEL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257806" y="1431929"/>
            <a:ext cx="13138923" cy="782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Ingress Proxy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Receives user prompts and responses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|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Feature Extraction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Extracts patterns and embeddings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|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Exasol Core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Compares prompts with attack fingerprints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|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Decision Engine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Allows, flags, or blocks prompts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|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Immutable Audit Log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Records every decision for replay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|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Live Dashboard</a:t>
            </a:r>
          </a:p>
          <a:p>
            <a:pPr algn="ctr">
              <a:lnSpc>
                <a:spcPts val="3432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Displays threats, scores, and activity</a:t>
            </a:r>
          </a:p>
          <a:p>
            <a:pPr algn="ctr">
              <a:lnSpc>
                <a:spcPts val="3432"/>
              </a:lnSpc>
            </a:pPr>
            <a:endParaRPr lang="en-US" sz="2288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82749" y="1501871"/>
            <a:ext cx="11305251" cy="8785129"/>
            <a:chOff x="0" y="0"/>
            <a:chExt cx="1751479" cy="1361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1479" cy="1361046"/>
            </a:xfrm>
            <a:custGeom>
              <a:avLst/>
              <a:gdLst/>
              <a:ahLst/>
              <a:cxnLst/>
              <a:rect l="l" t="t" r="r" b="b"/>
              <a:pathLst>
                <a:path w="1751479" h="1361046">
                  <a:moveTo>
                    <a:pt x="0" y="0"/>
                  </a:moveTo>
                  <a:lnTo>
                    <a:pt x="1751479" y="0"/>
                  </a:lnTo>
                  <a:lnTo>
                    <a:pt x="1751479" y="1361046"/>
                  </a:lnTo>
                  <a:lnTo>
                    <a:pt x="0" y="1361046"/>
                  </a:lnTo>
                  <a:close/>
                </a:path>
              </a:pathLst>
            </a:custGeom>
            <a:blipFill>
              <a:blip r:embed="rId2"/>
              <a:stretch>
                <a:fillRect l="-166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570917" y="6919747"/>
            <a:ext cx="2393316" cy="2338553"/>
            <a:chOff x="0" y="0"/>
            <a:chExt cx="88349" cy="863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49" cy="86327"/>
            </a:xfrm>
            <a:custGeom>
              <a:avLst/>
              <a:gdLst/>
              <a:ahLst/>
              <a:cxnLst/>
              <a:rect l="l" t="t" r="r" b="b"/>
              <a:pathLst>
                <a:path w="88349" h="86327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919747"/>
            <a:ext cx="2393316" cy="2338553"/>
            <a:chOff x="0" y="0"/>
            <a:chExt cx="88349" cy="863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349" cy="86327"/>
            </a:xfrm>
            <a:custGeom>
              <a:avLst/>
              <a:gdLst/>
              <a:ahLst/>
              <a:cxnLst/>
              <a:rect l="l" t="t" r="r" b="b"/>
              <a:pathLst>
                <a:path w="88349" h="86327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13134" y="6919747"/>
            <a:ext cx="2393316" cy="2338553"/>
            <a:chOff x="0" y="0"/>
            <a:chExt cx="88349" cy="863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349" cy="86327"/>
            </a:xfrm>
            <a:custGeom>
              <a:avLst/>
              <a:gdLst/>
              <a:ahLst/>
              <a:cxnLst/>
              <a:rect l="l" t="t" r="r" b="b"/>
              <a:pathLst>
                <a:path w="88349" h="86327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45624" y="1668028"/>
            <a:ext cx="1472150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EXASOL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7236" y="2868178"/>
            <a:ext cx="14038428" cy="143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EXASOL ISN'T BOLTED ON — IT'S THE CORE OF SENTINEL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6199" y="4922489"/>
            <a:ext cx="6100086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Detection and governance work together on one data platform.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3808" y="7251466"/>
            <a:ext cx="1862665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Analytics Engine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36242" y="7251466"/>
            <a:ext cx="1862665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Immutable Audit Log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3112" y="7251466"/>
            <a:ext cx="2124492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Fingerprint Store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906" y="8189390"/>
            <a:ext cx="225890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attack pattern matching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93556" y="8189390"/>
            <a:ext cx="1948038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Records every AI decision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33115" y="8194440"/>
            <a:ext cx="2744051" cy="7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Delivers instant security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12" y="351883"/>
            <a:ext cx="10597024" cy="6039460"/>
          </a:xfrm>
          <a:custGeom>
            <a:avLst/>
            <a:gdLst/>
            <a:ahLst/>
            <a:cxnLst/>
            <a:rect l="l" t="t" r="r" b="b"/>
            <a:pathLst>
              <a:path w="10597024" h="6039460">
                <a:moveTo>
                  <a:pt x="0" y="0"/>
                </a:moveTo>
                <a:lnTo>
                  <a:pt x="10597024" y="0"/>
                </a:lnTo>
                <a:lnTo>
                  <a:pt x="10597024" y="6039461"/>
                </a:lnTo>
                <a:lnTo>
                  <a:pt x="0" y="6039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6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32679"/>
            <a:ext cx="9144000" cy="876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32813"/>
            <a:ext cx="9144000" cy="939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700" y="3368009"/>
            <a:ext cx="6299678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 &amp; Accessible Tools</a:t>
            </a:r>
          </a:p>
          <a:p>
            <a:pPr algn="ctr">
              <a:lnSpc>
                <a:spcPts val="4900"/>
              </a:lnSpc>
            </a:pPr>
            <a:endParaRPr lang="en-US" sz="35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55651" lvl="1" indent="-377825" algn="ctr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Built with open-source technologies.</a:t>
            </a:r>
          </a:p>
          <a:p>
            <a:pPr algn="ctr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51" lvl="1" indent="-377825" algn="ctr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and intelligent AI threat detection.</a:t>
            </a:r>
          </a:p>
          <a:p>
            <a:pPr algn="ctr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0700" y="8457580"/>
            <a:ext cx="6222893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ctr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monitoring and analytics.</a:t>
            </a:r>
          </a:p>
          <a:p>
            <a:pPr algn="ctr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00719" y="7038309"/>
            <a:ext cx="9111610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ctr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Scalable and flexible architecture.</a:t>
            </a:r>
          </a:p>
          <a:p>
            <a:pPr algn="ctr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51" lvl="1" indent="-377825" algn="ctr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Easy deployment using Docker.</a:t>
            </a:r>
          </a:p>
          <a:p>
            <a:pPr algn="ctr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08108" y="0"/>
            <a:ext cx="7879892" cy="10287000"/>
            <a:chOff x="0" y="0"/>
            <a:chExt cx="122080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801" cy="1593725"/>
            </a:xfrm>
            <a:custGeom>
              <a:avLst/>
              <a:gdLst/>
              <a:ahLst/>
              <a:cxnLst/>
              <a:rect l="l" t="t" r="r" b="b"/>
              <a:pathLst>
                <a:path w="1220801" h="1593725">
                  <a:moveTo>
                    <a:pt x="0" y="0"/>
                  </a:moveTo>
                  <a:lnTo>
                    <a:pt x="1220801" y="0"/>
                  </a:lnTo>
                  <a:lnTo>
                    <a:pt x="12208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59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6072766"/>
            <a:ext cx="780503" cy="78050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-3192597" y="9179437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19636" y="6263702"/>
            <a:ext cx="398631" cy="398631"/>
          </a:xfrm>
          <a:custGeom>
            <a:avLst/>
            <a:gdLst/>
            <a:ahLst/>
            <a:cxnLst/>
            <a:rect l="l" t="t" r="r" b="b"/>
            <a:pathLst>
              <a:path w="398631" h="398631">
                <a:moveTo>
                  <a:pt x="0" y="0"/>
                </a:moveTo>
                <a:lnTo>
                  <a:pt x="398631" y="0"/>
                </a:lnTo>
                <a:lnTo>
                  <a:pt x="398631" y="398631"/>
                </a:lnTo>
                <a:lnTo>
                  <a:pt x="0" y="398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2750" y="600718"/>
            <a:ext cx="11483122" cy="74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0"/>
              </a:lnSpc>
            </a:pPr>
            <a:r>
              <a:rPr lang="en-US" sz="61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BENEFITS &amp; FEASIBILITY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750" y="1641469"/>
            <a:ext cx="11483122" cy="1509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THIS WORKS, AND WHY IT'S REALISTIC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750" y="3586742"/>
            <a:ext cx="11483122" cy="198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Benefits</a:t>
            </a:r>
          </a:p>
          <a:p>
            <a:pPr algn="l">
              <a:lnSpc>
                <a:spcPts val="3000"/>
              </a:lnSpc>
            </a:pPr>
            <a:endParaRPr lang="en-US" sz="2500" b="1">
              <a:solidFill>
                <a:srgbClr val="37B4B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Model-agnostic — works with any LLM/chatbot behind the proxy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Extensible — new attack patterns added with a single CSV + reseed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Transparent — every decision is explainable and auditable, not a black box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92218" y="6922565"/>
            <a:ext cx="7883777" cy="18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proprietary infrastructure required — runs on a laptop via Exasol Personal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Lightweight embedding model (~90MB) — no GPU needed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Clear path to production: containerize the proxy, point at a shared Exasol instance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92218" y="6303982"/>
            <a:ext cx="10319604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675277" cy="379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5277" cy="379844"/>
            </a:xfrm>
            <a:custGeom>
              <a:avLst/>
              <a:gdLst/>
              <a:ahLst/>
              <a:cxnLst/>
              <a:rect l="l" t="t" r="r" b="b"/>
              <a:pathLst>
                <a:path w="675277" h="379844">
                  <a:moveTo>
                    <a:pt x="0" y="0"/>
                  </a:moveTo>
                  <a:lnTo>
                    <a:pt x="675277" y="0"/>
                  </a:lnTo>
                  <a:lnTo>
                    <a:pt x="675277" y="379844"/>
                  </a:lnTo>
                  <a:lnTo>
                    <a:pt x="0" y="379844"/>
                  </a:lnTo>
                  <a:close/>
                </a:path>
              </a:pathLst>
            </a:custGeom>
            <a:solidFill>
              <a:srgbClr val="02060F">
                <a:alpha val="4000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75277" cy="417944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799121">
            <a:off x="8662504" y="333074"/>
            <a:ext cx="8776185" cy="8776185"/>
          </a:xfrm>
          <a:custGeom>
            <a:avLst/>
            <a:gdLst/>
            <a:ahLst/>
            <a:cxnLst/>
            <a:rect l="l" t="t" r="r" b="b"/>
            <a:pathLst>
              <a:path w="8776185" h="8776185">
                <a:moveTo>
                  <a:pt x="0" y="0"/>
                </a:moveTo>
                <a:lnTo>
                  <a:pt x="8776186" y="0"/>
                </a:lnTo>
                <a:lnTo>
                  <a:pt x="8776186" y="8776185"/>
                </a:lnTo>
                <a:lnTo>
                  <a:pt x="0" y="87761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54250" y="512928"/>
            <a:ext cx="8851972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&amp; WHAT'S NEXT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4250" y="2303736"/>
            <a:ext cx="11262558" cy="55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500" b="1">
                <a:solidFill>
                  <a:srgbClr val="37B4B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LIMITATIONS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4403" y="7486423"/>
            <a:ext cx="6634685" cy="226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Fixed fingerprint library (~25 patterns) — not exhaustive against novel attacks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Similarity scoring runs in the app layer, not yet inside Exasol itself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production-grade auth/rate-limiting on the proxy yet</a:t>
            </a:r>
          </a:p>
        </p:txBody>
      </p:sp>
      <p:sp>
        <p:nvSpPr>
          <p:cNvPr id="11" name="Freeform 11"/>
          <p:cNvSpPr/>
          <p:nvPr/>
        </p:nvSpPr>
        <p:spPr>
          <a:xfrm>
            <a:off x="6720225" y="7844334"/>
            <a:ext cx="270330" cy="270330"/>
          </a:xfrm>
          <a:custGeom>
            <a:avLst/>
            <a:gdLst/>
            <a:ahLst/>
            <a:cxnLst/>
            <a:rect l="l" t="t" r="r" b="b"/>
            <a:pathLst>
              <a:path w="270330" h="270330">
                <a:moveTo>
                  <a:pt x="0" y="0"/>
                </a:moveTo>
                <a:lnTo>
                  <a:pt x="270330" y="0"/>
                </a:lnTo>
                <a:lnTo>
                  <a:pt x="270330" y="270330"/>
                </a:lnTo>
                <a:lnTo>
                  <a:pt x="0" y="270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20225" y="6733498"/>
            <a:ext cx="270330" cy="270330"/>
          </a:xfrm>
          <a:custGeom>
            <a:avLst/>
            <a:gdLst/>
            <a:ahLst/>
            <a:cxnLst/>
            <a:rect l="l" t="t" r="r" b="b"/>
            <a:pathLst>
              <a:path w="270330" h="270330">
                <a:moveTo>
                  <a:pt x="0" y="0"/>
                </a:moveTo>
                <a:lnTo>
                  <a:pt x="270330" y="0"/>
                </a:lnTo>
                <a:lnTo>
                  <a:pt x="270330" y="270331"/>
                </a:lnTo>
                <a:lnTo>
                  <a:pt x="0" y="270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717202" y="7878272"/>
            <a:ext cx="270330" cy="202453"/>
          </a:xfrm>
          <a:custGeom>
            <a:avLst/>
            <a:gdLst/>
            <a:ahLst/>
            <a:cxnLst/>
            <a:rect l="l" t="t" r="r" b="b"/>
            <a:pathLst>
              <a:path w="270330" h="202453">
                <a:moveTo>
                  <a:pt x="0" y="0"/>
                </a:moveTo>
                <a:lnTo>
                  <a:pt x="270330" y="0"/>
                </a:lnTo>
                <a:lnTo>
                  <a:pt x="270330" y="202454"/>
                </a:lnTo>
                <a:lnTo>
                  <a:pt x="0" y="202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44403" y="3182938"/>
            <a:ext cx="5633283" cy="387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Roadmap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31807" lvl="1" indent="-215904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Move similarity matching into an Exasol</a:t>
            </a:r>
          </a:p>
          <a:p>
            <a:pPr marL="431807" lvl="1" indent="-215904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Python UDF — scoring runs inside the database itself</a:t>
            </a:r>
          </a:p>
          <a:p>
            <a:pPr marL="431807" lvl="1" indent="-215904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Expand fingerprint library with community-sourced jailbreak datasets</a:t>
            </a:r>
          </a:p>
          <a:p>
            <a:pPr marL="431807" lvl="1" indent="-215904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LLM-as-judge as a third detection layer for ambiguous cases</a:t>
            </a:r>
          </a:p>
          <a:p>
            <a:pPr marL="431807" lvl="1" indent="-215904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Multi-tenant support for enterprise deploy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2868" y="159703"/>
            <a:ext cx="752379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24504" y="1773740"/>
            <a:ext cx="1383899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Sentinel — AI Trust &amp; Safety, built on </a:t>
            </a:r>
            <a:r>
              <a:rPr lang="en-US" sz="5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Exasol</a:t>
            </a:r>
            <a:endParaRPr lang="en-US" sz="50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98492" y="3184710"/>
            <a:ext cx="1383899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GitHub: github.com/knandhini2208/sentinel-prompt-firewall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67704" y="4304683"/>
            <a:ext cx="5752593" cy="580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TEAM :</a:t>
            </a:r>
          </a:p>
          <a:p>
            <a:pPr algn="l">
              <a:lnSpc>
                <a:spcPts val="3499"/>
              </a:lnSpc>
            </a:pPr>
            <a:endParaRPr lang="en-US" sz="24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9" lvl="1" indent="-269875" algn="l">
              <a:lnSpc>
                <a:spcPts val="3499"/>
              </a:lnSpc>
              <a:buAutoNum type="arabicPeriod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KRITHIHA S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krithihasathish@gmail.com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63692 06535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269874" lvl="1"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 NANDHINI K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knandhini2369@gmail.com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9344483410</a:t>
            </a:r>
          </a:p>
          <a:p>
            <a:pPr marL="269874" lvl="1"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269874" lvl="1"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NETHRA K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nethrakannan07@gmail.com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7010911305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Custom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Montserrat Bold</vt:lpstr>
      <vt:lpstr>Calibri</vt:lpstr>
      <vt:lpstr>Canva Sans Bold</vt:lpstr>
      <vt:lpstr>Arial</vt:lpstr>
      <vt:lpstr>Pattanakarn Semi-Bold</vt:lpstr>
      <vt:lpstr>Poppins</vt:lpstr>
      <vt:lpstr>Gotham</vt:lpstr>
      <vt:lpstr>Canva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</dc:title>
  <cp:lastModifiedBy>Nethra Kannan</cp:lastModifiedBy>
  <cp:revision>3</cp:revision>
  <dcterms:created xsi:type="dcterms:W3CDTF">2006-08-16T00:00:00Z</dcterms:created>
  <dcterms:modified xsi:type="dcterms:W3CDTF">2026-09-13T14:54:10Z</dcterms:modified>
  <dc:identifier>DAHVFQgkuDk</dc:identifier>
</cp:coreProperties>
</file>